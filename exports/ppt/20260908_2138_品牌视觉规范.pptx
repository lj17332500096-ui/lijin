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品牌视觉规范</a:t>
            </a:r>
          </a:p>
          <a:p>
            <a:r>
              <a:t>Brand Identity Guidelines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主色：#2B6CB0（科技蓝）</a:t>
            </a:r>
            <a:br/>
            <a:r>
              <a:t>强调色：#ED8936（活力橙）</a:t>
            </a:r>
            <a:br/>
            <a:r>
              <a:t>中性灰阶 + 字体方案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色板总览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主色：#2B6CB0</a:t>
            </a:r>
            <a:br/>
            <a:r>
              <a:t>应用场景：导航栏、主按钮、核心图标</a:t>
            </a:r>
            <a:br/>
            <a:br/>
            <a:r>
              <a:t>强调色：#ED8936</a:t>
            </a:r>
            <a:br/>
            <a:r>
              <a:t>应用场景：CTA 按钮、重要提示、徽章</a:t>
            </a:r>
            <a:br/>
            <a:br/>
            <a:r>
              <a:t>中性色：#1A2332 / #4A5568 / #718096 / #A0AEC0 / #E2E8F0 / #F7FAFC</a:t>
            </a:r>
            <a:br/>
            <a:r>
              <a:t>应用场景：文字层级、背景、边框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主色 - 科技蓝 #2B6CB0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十六进制：#2B6CB0</a:t>
            </a:r>
            <a:br/>
            <a:r>
              <a:t>RGB：43, 108, 176</a:t>
            </a:r>
            <a:br/>
            <a:r>
              <a:t>CMYK：75, 39, 0, 31</a:t>
            </a:r>
            <a:br/>
            <a:r>
              <a:t>HSL：211°, 55%, 43%</a:t>
            </a:r>
            <a:br/>
            <a:br/>
            <a:r>
              <a:t>使用建议：</a:t>
            </a:r>
            <a:br/>
            <a:r>
              <a:t>- 作为品牌识别的核心色彩</a:t>
            </a:r>
            <a:br/>
            <a:r>
              <a:t>- 搭配白色文字保证可读性</a:t>
            </a:r>
            <a:br/>
            <a:r>
              <a:t>- 避免用于小面积文字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强调色 - 活力橙 #ED8936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十六进制：#ED8936</a:t>
            </a:r>
            <a:br/>
            <a:r>
              <a:t>RGB：237, 137, 54</a:t>
            </a:r>
            <a:br/>
            <a:r>
              <a:t>CMYK：0, 42, 77, 7</a:t>
            </a:r>
            <a:br/>
            <a:r>
              <a:t>HSL：27°, 80%, 57%</a:t>
            </a:r>
            <a:br/>
            <a:br/>
            <a:r>
              <a:t>使用建议：</a:t>
            </a:r>
            <a:br/>
            <a:r>
              <a:t>- CTA 按钮、关键行动点</a:t>
            </a:r>
            <a:br/>
            <a:r>
              <a:t>- 通知徽章、状态指示</a:t>
            </a:r>
            <a:br/>
            <a:r>
              <a:t>- 谨慎使用，避免过度分散注意力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中性灰阶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深色文字：#1A2332（标题、正文）</a:t>
            </a:r>
            <a:br/>
            <a:r>
              <a:t>中深灰：#4A5568（次要文字）</a:t>
            </a:r>
            <a:br/>
            <a:r>
              <a:t>中灰：#718096（辅助说明）</a:t>
            </a:r>
            <a:br/>
            <a:r>
              <a:t>浅灰：#A0AEC0（边框、分割线）</a:t>
            </a:r>
            <a:br/>
            <a:r>
              <a:t>极浅灰：#E2E8F0（背景区域）</a:t>
            </a:r>
            <a:br/>
            <a:r>
              <a:t>近白：#F7FAFC（大面积背景）</a:t>
            </a:r>
            <a:br/>
            <a:br/>
            <a:r>
              <a:t>原则：正文不超过两个灰度层级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字体组合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中文：思源黑体 Noto Sans SC</a:t>
            </a:r>
            <a:br/>
            <a:r>
              <a:t>字重：Regular 400 / Medium 500 / Bold 700</a:t>
            </a:r>
            <a:br/>
            <a:r>
              <a:t>应用场景：所有中文内容</a:t>
            </a:r>
            <a:br/>
            <a:br/>
            <a:r>
              <a:t>英文/数字：Inter</a:t>
            </a:r>
            <a:br/>
            <a:r>
              <a:t>字重：Regular 400 / Medium 500 / Bold 700</a:t>
            </a:r>
            <a:br/>
            <a:r>
              <a:t>应用场景：UI 界面、数据展示</a:t>
            </a:r>
            <a:br/>
            <a:br/>
            <a:r>
              <a:t>备选：系统默认字体栈</a:t>
            </a:r>
            <a:br/>
            <a:r>
              <a:t>苹方 / 微软雅黑 / SF Pro / Roboto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字体层级规范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H1 主标题：32px / Bold / #1A2332</a:t>
            </a:r>
            <a:br/>
            <a:r>
              <a:t>H2 副标题：24px / SemiBold / #2B6CB0</a:t>
            </a:r>
            <a:br/>
            <a:r>
              <a:t>H3 小节标题：18px / Medium / #4A5568</a:t>
            </a:r>
            <a:br/>
            <a:r>
              <a:t>Body 正文：16px / Regular / #1A2332</a:t>
            </a:r>
            <a:br/>
            <a:r>
              <a:t>Small 辅助文字：14px / Regular / #718096</a:t>
            </a:r>
            <a:br/>
            <a:r>
              <a:t>Caption 注释：12px / Regular / #A0AEC0</a:t>
            </a:r>
            <a:br/>
            <a:br/>
            <a:r>
              <a:t>行高建议：1.5-1.75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配色应用场景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导航栏：#2B6CB0 背景 + 白色文字</a:t>
            </a:r>
            <a:br/>
            <a:r>
              <a:t>主按钮：#2B6CB0 背景</a:t>
            </a:r>
            <a:br/>
            <a:r>
              <a:t>次级按钮：透明背景 + #2B6CB0 边框</a:t>
            </a:r>
            <a:br/>
            <a:r>
              <a:t>CTA 按钮：#ED8936 背景</a:t>
            </a:r>
            <a:br/>
            <a:r>
              <a:t>卡片背景：#F7FAFC</a:t>
            </a:r>
            <a:br/>
            <a:r>
              <a:t>分割线：#E2E8F0</a:t>
            </a:r>
            <a:br/>
            <a:r>
              <a:t>禁用态：#A0AEC0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禁止用法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× 橙色文字用于长段落（降低可读性）</a:t>
            </a:r>
            <a:br/>
            <a:r>
              <a:t>× 蓝橙直接叠加（对比度不足）</a:t>
            </a:r>
            <a:br/>
            <a:r>
              <a:t>× 浅色背景配浅灰文字</a:t>
            </a:r>
            <a:br/>
            <a:r>
              <a:t>× 三个以上主色同时出现</a:t>
            </a:r>
            <a:br/>
            <a:r>
              <a:t>× 使用未定义的品牌色变体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规范版本</a:t>
            </a:r>
          </a:p>
          <a:p>
            <a:r>
              <a:t>Brand Guidelines v1.0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主色：#2B6CB0</a:t>
            </a:r>
            <a:br/>
            <a:r>
              <a:t>强调色：#ED8936</a:t>
            </a:r>
            <a:br/>
            <a:r>
              <a:t>字体：思源黑体 + Inter</a:t>
            </a:r>
            <a:br/>
            <a:br/>
            <a:r>
              <a:t>生成日期：2026年</a:t>
            </a:r>
            <a:br/>
            <a:r>
              <a:t>适用产品：[请填写产品名称]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